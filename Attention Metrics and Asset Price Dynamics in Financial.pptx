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ED77-F3E8-9EAC-7EDF-6885BECB75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1BC06-D3C4-EFAF-7D7D-73F99E7AC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8D616-FE4B-B189-D0CF-D93287C1F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185F6-91B8-4BC8-8BA5-803694AC188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48443-C79E-A871-003E-6BBEB9FBD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69416-E5D2-BF80-FD82-207F1A8E3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7A9B5-E4AA-411B-BB41-DD09E92A0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881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2BF98-5D6D-8180-9899-9D3EB721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D54FE-02F5-9EC7-D473-C886038EA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95EF0-C5AF-0629-03C4-A9E26C9EF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185F6-91B8-4BC8-8BA5-803694AC188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CAD5D-32A1-AE80-BB30-1BD129D89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B30C5-2FE0-1B48-2498-BDCF052D1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7A9B5-E4AA-411B-BB41-DD09E92A0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202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D511F-413C-40A2-ECCF-D7967D88B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88F6C-2DA3-0657-D460-CAC374E30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09A92-A968-16AA-9AC2-0CFD03BB4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185F6-91B8-4BC8-8BA5-803694AC188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4BD5C-72C8-4448-A96F-4B10A8A5C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232F3-0BB1-229D-283D-6FE96115A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7A9B5-E4AA-411B-BB41-DD09E92A0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846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4E956-F065-60E1-DFD8-63666E415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896AB-837B-17D5-E54B-5F3C3F9BD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0D78A-DDEC-AC5C-0064-963AD0E44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4AC5D-D6FF-E984-157C-2FF7C5F8C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185F6-91B8-4BC8-8BA5-803694AC188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E54EF-BFCF-6D2B-01CB-EF0896859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88733-A3F9-CADF-66F4-67EDCA3D0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7A9B5-E4AA-411B-BB41-DD09E92A0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426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4246A-A549-CF24-9BC5-7D4BA0D7E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FE457E-D554-4098-BAB7-6A4C6C03F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0369A-15DB-2F24-B86D-E9DB97162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F40D48-4584-52F1-B1D4-03E95A7E22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226919-3C4B-E66C-A893-C1AB974E4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BCDFA1-7046-4B1A-66E8-4A68D3C3B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185F6-91B8-4BC8-8BA5-803694AC188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3DC747-5265-3419-9E7D-292C53854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CD3223-1743-320F-21C5-67872366A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7A9B5-E4AA-411B-BB41-DD09E92A0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422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CB641-03CC-3369-564A-3B901F990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7A2E4F-9570-60DF-AE81-8EDD89B0D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185F6-91B8-4BC8-8BA5-803694AC188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8DE7A6-8958-F2D2-878C-422414D8B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C083CB-18B4-DFDC-BE9C-4A4B5E136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7A9B5-E4AA-411B-BB41-DD09E92A0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821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76C229-D18C-B8A1-9F61-61D3B9178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185F6-91B8-4BC8-8BA5-803694AC188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C220F5-B83F-644C-5F84-9B96BC100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0389D-3636-83FE-A28C-A1A21D964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7A9B5-E4AA-411B-BB41-DD09E92A0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869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19274-42EB-4639-53C4-009A91247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C5979-CF52-ECB4-2B51-63C343A60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6C1A19-FF67-1EE9-D078-BF7A6AD07A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67D471-92ED-FC2D-9CA7-98DDAD762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185F6-91B8-4BC8-8BA5-803694AC188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85642-FE54-3A2E-4F90-E3FB4FCD9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77E19-A91D-03D6-D18D-9DE8914A8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7A9B5-E4AA-411B-BB41-DD09E92A0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936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B0909-AFE5-EAFB-1DB9-DC35CC578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8C1116-0B99-F53C-1C87-92A16C8AFA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90196-4214-C291-48ED-F0B455CF4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02086-C2A2-E10F-678F-E943D098D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185F6-91B8-4BC8-8BA5-803694AC188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D4BA6E-4684-0477-8250-F0A081222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22F23-8FD1-EBEF-1572-35E0FA986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7A9B5-E4AA-411B-BB41-DD09E92A0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084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A173D-A4E7-DC7D-F531-7117D6A3F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099539-D1D0-6E9A-928F-9BEDABBB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F11C1-DF5E-7DB5-CAB9-B94BE3A8D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185F6-91B8-4BC8-8BA5-803694AC188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9CA8F-CF46-E697-7707-336E53B96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31E8C-7C1B-D8F3-5EBC-F593D5AEE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7A9B5-E4AA-411B-BB41-DD09E92A0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627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B39A6B-F658-6DB6-CF84-A485EE1394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99D5BA-14CE-C05C-D035-CBE18095EB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57EAE-A209-B318-1956-AD1918EC6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185F6-91B8-4BC8-8BA5-803694AC188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17095-0036-7ED3-05F1-6EE72E496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DA6F6-DF98-D7A1-C036-3FDDE3EE1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7A9B5-E4AA-411B-BB41-DD09E92A0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826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DB1D03-94AE-9953-CC3F-4872FE11B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40FFB-926D-EEDB-18FE-66A4C9A98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A2BC4-13CD-8E37-3D69-905141BA4B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C185F6-91B8-4BC8-8BA5-803694AC188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BEF4C-838D-7164-76BE-B7EB20909B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5177D-B785-F685-2ED8-FEF985295C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C7A9B5-E4AA-411B-BB41-DD09E92A0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611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82C03-9ED0-57AB-05C3-695443AEF7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545572"/>
            <a:ext cx="9144000" cy="1722437"/>
          </a:xfrm>
        </p:spPr>
        <p:txBody>
          <a:bodyPr>
            <a:normAutofit/>
          </a:bodyPr>
          <a:lstStyle/>
          <a:p>
            <a:r>
              <a:rPr lang="en-US" sz="3600" b="1"/>
              <a:t>Attention Metrics and Asset Price Dynamics in Financial Time Series</a:t>
            </a:r>
            <a:endParaRPr lang="en-US" sz="3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9D0AA0-35C8-4022-0CA7-00E230BF7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06958"/>
            <a:ext cx="5893090" cy="733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03C730-E816-553B-EEAA-192F35F4D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1124" y="3426462"/>
            <a:ext cx="3819258" cy="11005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B8E2AE-5198-9ABC-1AF1-D8C2DC9912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4115" y="4812974"/>
            <a:ext cx="3665475" cy="9162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FE1EDF-4DF0-2616-FC9C-36A734F3F3B3}"/>
              </a:ext>
            </a:extLst>
          </p:cNvPr>
          <p:cNvSpPr txBox="1"/>
          <p:nvPr/>
        </p:nvSpPr>
        <p:spPr>
          <a:xfrm>
            <a:off x="60312" y="1489859"/>
            <a:ext cx="56790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goal of this analysis is to test whether investor attention, proxied by Google Trends, can improve model performance when predicting asset shocks and returns.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35DA10-3028-290D-706C-30ADF7DDAA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7" y="3566953"/>
            <a:ext cx="1781465" cy="14032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44DE01B-EBFF-2BD6-5EE6-2034FCAEB2C9}"/>
              </a:ext>
            </a:extLst>
          </p:cNvPr>
          <p:cNvSpPr txBox="1"/>
          <p:nvPr/>
        </p:nvSpPr>
        <p:spPr>
          <a:xfrm>
            <a:off x="349829" y="5073412"/>
            <a:ext cx="1304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Figure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1CCAB9-6B43-1C38-4B71-598003AB107A}"/>
              </a:ext>
            </a:extLst>
          </p:cNvPr>
          <p:cNvSpPr txBox="1"/>
          <p:nvPr/>
        </p:nvSpPr>
        <p:spPr>
          <a:xfrm>
            <a:off x="127694" y="5796113"/>
            <a:ext cx="460513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Figure 1 shows one of the plots with the highest Pearson correlation coefficients at R=0.34. Visually, the strongest attention metrics appeared to have  weak to medium correlations to actual asset data.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6DDE280-1AB5-FB6E-B673-CEA5DF58E5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409" y="994673"/>
            <a:ext cx="3520367" cy="3753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0C34214-0C34-EC8E-DFF2-F0BD95B193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0180" y="636982"/>
            <a:ext cx="1457528" cy="30484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9895B8C-1207-2981-E8FA-B9A738D399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4168" y="1693322"/>
            <a:ext cx="5067503" cy="37537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CA3FC3C-239D-002F-7A11-6733BBDDBEE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7718" t="-3737"/>
          <a:stretch>
            <a:fillRect/>
          </a:stretch>
        </p:blipFill>
        <p:spPr>
          <a:xfrm>
            <a:off x="7647816" y="1386972"/>
            <a:ext cx="3806520" cy="30635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5C0963E-9C7A-9C5F-20FE-000C1C11CA05}"/>
              </a:ext>
            </a:extLst>
          </p:cNvPr>
          <p:cNvSpPr txBox="1"/>
          <p:nvPr/>
        </p:nvSpPr>
        <p:spPr>
          <a:xfrm>
            <a:off x="6629400" y="2068692"/>
            <a:ext cx="55022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The augmented model adds contemporaneous and lagged attention variables A</a:t>
            </a:r>
            <a:r>
              <a:rPr lang="en-US" sz="1200" baseline="-25000" dirty="0"/>
              <a:t>t</a:t>
            </a:r>
            <a:r>
              <a:rPr lang="en-US" sz="1200" dirty="0"/>
              <a:t>, the trend index, ΔAₜ, the change in trend index, and zₜᵃ, the normalized trend index shock. The top 5 metrics were used together in the final model for each asset.</a:t>
            </a:r>
          </a:p>
          <a:p>
            <a:endParaRPr lang="en-US" sz="1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AAE6258-65BE-D4FC-918D-44C308A7F28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8754"/>
          <a:stretch>
            <a:fillRect/>
          </a:stretch>
        </p:blipFill>
        <p:spPr>
          <a:xfrm>
            <a:off x="5710382" y="3208217"/>
            <a:ext cx="4889917" cy="320951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CFDF37D-E843-C1A7-8D3B-77DC6871B81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7937" y="2917644"/>
            <a:ext cx="1829055" cy="33342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D6EB958-6E4D-562E-DEAB-E814498C2429}"/>
              </a:ext>
            </a:extLst>
          </p:cNvPr>
          <p:cNvSpPr txBox="1"/>
          <p:nvPr/>
        </p:nvSpPr>
        <p:spPr>
          <a:xfrm>
            <a:off x="10600300" y="3084355"/>
            <a:ext cx="146400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The augmented model performed 2-7% better out-of-sample across all three assets. This suggests that attention metrics may be viable as a source of information when predicting asset pricing behavior. </a:t>
            </a:r>
          </a:p>
        </p:txBody>
      </p:sp>
    </p:spTree>
    <p:extLst>
      <p:ext uri="{BB962C8B-B14F-4D97-AF65-F5344CB8AC3E}">
        <p14:creationId xmlns:p14="http://schemas.microsoft.com/office/powerpoint/2010/main" val="174636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158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Attention Metrics and Asset Price Dynamics in Financial Time Series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Shinde, Atharva N</dc:creator>
  <cp:lastModifiedBy>Shinde, Atharva N</cp:lastModifiedBy>
  <cp:revision>1</cp:revision>
  <dcterms:created xsi:type="dcterms:W3CDTF">2026-04-23T03:19:12Z</dcterms:created>
  <dcterms:modified xsi:type="dcterms:W3CDTF">2026-04-23T03:43:42Z</dcterms:modified>
</cp:coreProperties>
</file>